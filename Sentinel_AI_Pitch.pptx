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  <a:latin typeface="Calibri"/>
              </a:rPr>
              <a:t>AUTONOMOUS TRAFFIC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1F5F9"/>
                </a:solidFill>
                <a:latin typeface="Calibri"/>
              </a:rPr>
              <a:t>Sentinel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  <a:latin typeface="Calibri"/>
              </a:rPr>
              <a:t>A safety-provable, explainable multi-agent system that watches an intersection
and drives its signals in real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11 agents  ·  209 tests  ·  0 safety violations  ·  72% less waiting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  <a:latin typeface="Calibri"/>
              </a:rPr>
              <a:t>Traffic lights are blind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b="1" sz="1800">
                <a:solidFill>
                  <a:srgbClr val="34D399"/>
                </a:solidFill>
              </a:rPr>
              <a:t>Fixed timers  </a:t>
            </a:r>
            <a:r>
              <a:rPr sz="1800">
                <a:solidFill>
                  <a:srgbClr val="F1F5F9"/>
                </a:solidFill>
              </a:rPr>
              <a:t>run on a clock, not on traffic — green burns on empty roads while the other side backs up.</a:t>
            </a:r>
          </a:p>
          <a:p>
            <a:pPr>
              <a:spcAft>
                <a:spcPts val="1800"/>
              </a:spcAft>
            </a:pPr>
            <a:r>
              <a:rPr b="1" sz="1800">
                <a:solidFill>
                  <a:srgbClr val="34D399"/>
                </a:solidFill>
              </a:rPr>
              <a:t>Wasted everything  </a:t>
            </a:r>
            <a:r>
              <a:rPr sz="1800">
                <a:solidFill>
                  <a:srgbClr val="F1F5F9"/>
                </a:solidFill>
              </a:rPr>
              <a:t>fuel, time, emissions — congestion costs cities billions every year.</a:t>
            </a:r>
          </a:p>
          <a:p>
            <a:pPr>
              <a:spcAft>
                <a:spcPts val="1800"/>
              </a:spcAft>
            </a:pPr>
            <a:r>
              <a:rPr b="1" sz="1800">
                <a:solidFill>
                  <a:srgbClr val="34D399"/>
                </a:solidFill>
              </a:rPr>
              <a:t>No visibility  </a:t>
            </a:r>
            <a:r>
              <a:rPr sz="1800">
                <a:solidFill>
                  <a:srgbClr val="F1F5F9"/>
                </a:solidFill>
              </a:rPr>
              <a:t>operators can't ask a traffic light *why* it did what it did.</a:t>
            </a:r>
          </a:p>
          <a:p>
            <a:pPr>
              <a:spcAft>
                <a:spcPts val="1800"/>
              </a:spcAft>
            </a:pPr>
            <a:r>
              <a:rPr b="1" sz="1800">
                <a:solidFill>
                  <a:srgbClr val="34D399"/>
                </a:solidFill>
              </a:rPr>
              <a:t>No safety story  </a:t>
            </a:r>
            <a:r>
              <a:rPr sz="1800">
                <a:solidFill>
                  <a:srgbClr val="F1F5F9"/>
                </a:solidFill>
              </a:rPr>
              <a:t>most "smart" signal pilots can't prove they won't cause a conflict.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0" y="1737360"/>
            <a:ext cx="4846320" cy="4114800"/>
          </a:xfrm>
          <a:prstGeom prst="rect">
            <a:avLst/>
          </a:prstGeom>
          <a:solidFill>
            <a:srgbClr val="151D30"/>
          </a:solidFill>
          <a:ln>
            <a:solidFill>
              <a:srgbClr val="151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9202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  <a:latin typeface="Calibri"/>
              </a:rPr>
              <a:t>What a fixed timer sees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468880"/>
            <a:ext cx="4297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F4444"/>
                </a:solidFill>
                <a:latin typeface="Calibri"/>
              </a:rPr>
              <a:t>North-South: GREEN for 30s
(regardless of demand)
East-West: RED for 30s
(even if empty)
→ no sensing. no reasoning. no adaptation.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  <a:latin typeface="Calibri"/>
              </a:rPr>
              <a:t>An AI that sees, reasons, and explains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900">
                <a:solidFill>
                  <a:srgbClr val="34D399"/>
                </a:solidFill>
              </a:rPr>
              <a:t>Sees  </a:t>
            </a:r>
            <a:r>
              <a:rPr sz="1900">
                <a:solidFill>
                  <a:srgbClr val="F1F5F9"/>
                </a:solidFill>
              </a:rPr>
              <a:t>detects and tracks every vehicle per approach, estimates queue length, wait time, density.</a:t>
            </a:r>
          </a:p>
          <a:p>
            <a:pPr>
              <a:spcAft>
                <a:spcPts val="1600"/>
              </a:spcAft>
            </a:pPr>
            <a:r>
              <a:rPr b="1" sz="1900">
                <a:solidFill>
                  <a:srgbClr val="34D399"/>
                </a:solidFill>
              </a:rPr>
              <a:t>Reasons  </a:t>
            </a:r>
            <a:r>
              <a:rPr sz="1900">
                <a:solidFill>
                  <a:srgbClr val="F1F5F9"/>
                </a:solidFill>
              </a:rPr>
              <a:t>a multi-objective policy weighs queue, wait, fairness, pedestrians, and predicted congestion.</a:t>
            </a:r>
          </a:p>
          <a:p>
            <a:pPr>
              <a:spcAft>
                <a:spcPts val="1600"/>
              </a:spcAft>
            </a:pPr>
            <a:r>
              <a:rPr b="1" sz="1900">
                <a:solidFill>
                  <a:srgbClr val="34D399"/>
                </a:solidFill>
              </a:rPr>
              <a:t>Acts safely  </a:t>
            </a:r>
            <a:r>
              <a:rPr sz="1900">
                <a:solidFill>
                  <a:srgbClr val="F1F5F9"/>
                </a:solidFill>
              </a:rPr>
              <a:t>a provably-safe controller enforces min/max green and full clearance — no exceptions.</a:t>
            </a:r>
          </a:p>
          <a:p>
            <a:pPr>
              <a:spcAft>
                <a:spcPts val="1600"/>
              </a:spcAft>
            </a:pPr>
            <a:r>
              <a:rPr b="1" sz="1900">
                <a:solidFill>
                  <a:srgbClr val="34D399"/>
                </a:solidFill>
              </a:rPr>
              <a:t>Explains  </a:t>
            </a:r>
            <a:r>
              <a:rPr sz="1900">
                <a:solidFill>
                  <a:srgbClr val="F1F5F9"/>
                </a:solidFill>
              </a:rPr>
              <a:t>an LLM narrates every decision in plain English, grounded only in real computed facts.</a:t>
            </a:r>
          </a:p>
          <a:p>
            <a:pPr>
              <a:spcAft>
                <a:spcPts val="1600"/>
              </a:spcAft>
            </a:pPr>
            <a:r>
              <a:rPr b="1" sz="1900">
                <a:solidFill>
                  <a:srgbClr val="34D399"/>
                </a:solidFill>
              </a:rPr>
              <a:t>Proves it  </a:t>
            </a:r>
            <a:r>
              <a:rPr sz="1900">
                <a:solidFill>
                  <a:srgbClr val="F1F5F9"/>
                </a:solidFill>
              </a:rPr>
              <a:t>benchmarked against a fixed timer on identical traffic: 72% less average wait.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Calibri"/>
              </a:rPr>
              <a:t>Eleven agents, one closed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3657600" cy="4206240"/>
          </a:xfrm>
          <a:prstGeom prst="rect">
            <a:avLst/>
          </a:prstGeom>
          <a:solidFill>
            <a:srgbClr val="151D30"/>
          </a:solidFill>
          <a:ln>
            <a:solidFill>
              <a:srgbClr val="151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0B1120"/>
                </a:solidFill>
              </a:rPr>
              <a:t>PERCEPTION PLANE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F1F5F9"/>
                </a:solidFill>
              </a:rPr>
              <a:t>•  Vision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F1F5F9"/>
                </a:solidFill>
              </a:rPr>
              <a:t>•  Tracking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F1F5F9"/>
                </a:solidFill>
              </a:rPr>
              <a:t>•  Movement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737360"/>
            <a:ext cx="3657600" cy="4206240"/>
          </a:xfrm>
          <a:prstGeom prst="rect">
            <a:avLst/>
          </a:prstGeom>
          <a:solidFill>
            <a:srgbClr val="151D30"/>
          </a:solidFill>
          <a:ln>
            <a:solidFill>
              <a:srgbClr val="151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26280" y="1737360"/>
            <a:ext cx="3657600" cy="45720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0B1120"/>
                </a:solidFill>
              </a:rPr>
              <a:t>COGNITION PLANE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37744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F1F5F9"/>
                </a:solidFill>
              </a:rPr>
              <a:t>•  Traffic Memory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F1F5F9"/>
                </a:solidFill>
              </a:rPr>
              <a:t>•  Prediction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F1F5F9"/>
                </a:solidFill>
              </a:rPr>
              <a:t>•  Decision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F1F5F9"/>
                </a:solidFill>
              </a:rPr>
              <a:t>•  Incident Detection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F1F5F9"/>
                </a:solidFill>
              </a:rPr>
              <a:t>•  Explainability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737360"/>
            <a:ext cx="3657600" cy="4206240"/>
          </a:xfrm>
          <a:prstGeom prst="rect">
            <a:avLst/>
          </a:prstGeom>
          <a:solidFill>
            <a:srgbClr val="151D30"/>
          </a:solidFill>
          <a:ln>
            <a:solidFill>
              <a:srgbClr val="151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0" y="1737360"/>
            <a:ext cx="3657600" cy="457200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0B1120"/>
                </a:solidFill>
              </a:rPr>
              <a:t>CONTROL &amp; 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37744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F1F5F9"/>
                </a:solidFill>
              </a:rPr>
              <a:t>•  Signal Controller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F1F5F9"/>
                </a:solidFill>
              </a:rPr>
              <a:t>•  Orchestrator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F1F5F9"/>
                </a:solidFill>
              </a:rPr>
              <a:t>• 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state.updated → prediction.updated → decision.made → signal.changed → explanation.generated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THE SAFETY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  <a:latin typeface="Calibri"/>
              </a:rPr>
              <a:t>The LLM never touches the light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5120640" cy="4206240"/>
          </a:xfrm>
          <a:prstGeom prst="rect">
            <a:avLst/>
          </a:prstGeom>
          <a:solidFill>
            <a:srgbClr val="151D30"/>
          </a:solidFill>
          <a:ln>
            <a:solidFill>
              <a:srgbClr val="151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Tier 1 — Decision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F1F5F9"/>
                </a:solidFill>
              </a:rPr>
              <a:t>•  Multi-objective utility score per axis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F1F5F9"/>
                </a:solidFill>
              </a:rPr>
              <a:t>•  Can be wrong. Can be replaced. Can even be an RL model later.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F1F5F9"/>
                </a:solidFill>
              </a:rPr>
              <a:t>•  Produces intent only — never touches the actuator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737360"/>
            <a:ext cx="5486400" cy="4206240"/>
          </a:xfrm>
          <a:prstGeom prst="rect">
            <a:avLst/>
          </a:prstGeom>
          <a:solidFill>
            <a:srgbClr val="151D30"/>
          </a:solidFill>
          <a:ln>
            <a:solidFill>
              <a:srgbClr val="151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  <a:latin typeface="Calibri"/>
              </a:rPr>
              <a:t>Tier 2 — Signal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6888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F1F5F9"/>
                </a:solidFill>
              </a:rPr>
              <a:t>•  Enforces min/max green, mandatory yellow + all-red clearance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F1F5F9"/>
                </a:solidFill>
              </a:rPr>
              <a:t>•  Rejects any illegal phase transition, regardless of policy input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F1F5F9"/>
                </a:solidFill>
              </a:rPr>
              <a:t>•  sentinel_safety_violations_total metric — verified at 0 across 200+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72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Explainability Agent narrates the decision afterward — out of the loop, fails safe to a template.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PROOF, NOT JUST A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  <a:latin typeface="Calibri"/>
              </a:rPr>
              <a:t>Measured against a real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2697480" cy="2011680"/>
          </a:xfrm>
          <a:prstGeom prst="rect">
            <a:avLst/>
          </a:prstGeom>
          <a:solidFill>
            <a:srgbClr val="151D30"/>
          </a:solidFill>
          <a:ln>
            <a:solidFill>
              <a:srgbClr val="151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4D399"/>
                </a:solidFill>
                <a:latin typeface="Calibri"/>
              </a:rPr>
              <a:t>72%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7180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less average wait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828800"/>
            <a:ext cx="2697480" cy="2011680"/>
          </a:xfrm>
          <a:prstGeom prst="rect">
            <a:avLst/>
          </a:prstGeom>
          <a:solidFill>
            <a:srgbClr val="151D30"/>
          </a:solidFill>
          <a:ln>
            <a:solidFill>
              <a:srgbClr val="151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205740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A623"/>
                </a:solidFill>
                <a:latin typeface="Calibri"/>
              </a:rPr>
              <a:t>11/11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97180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agents implemented &amp; running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2697480" cy="2011680"/>
          </a:xfrm>
          <a:prstGeom prst="rect">
            <a:avLst/>
          </a:prstGeom>
          <a:solidFill>
            <a:srgbClr val="151D30"/>
          </a:solidFill>
          <a:ln>
            <a:solidFill>
              <a:srgbClr val="151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05740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60A5FA"/>
                </a:solidFill>
                <a:latin typeface="Calibri"/>
              </a:rPr>
              <a:t>209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97180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automated tests passing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20" y="1828800"/>
            <a:ext cx="2697480" cy="2011680"/>
          </a:xfrm>
          <a:prstGeom prst="rect">
            <a:avLst/>
          </a:prstGeom>
          <a:solidFill>
            <a:srgbClr val="151D30"/>
          </a:solidFill>
          <a:ln>
            <a:solidFill>
              <a:srgbClr val="151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205740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F4444"/>
                </a:solidFill>
                <a:latin typeface="Calibr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safety violations, ever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976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Fixed timer vs. Sentinel AI — identical seeded traffic, same demand, same duration: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54880"/>
            <a:ext cx="5120640" cy="1554480"/>
          </a:xfrm>
          <a:prstGeom prst="rect">
            <a:avLst/>
          </a:prstGeom>
          <a:solidFill>
            <a:srgbClr val="151D30"/>
          </a:solidFill>
          <a:ln>
            <a:solidFill>
              <a:srgbClr val="151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Fixed timer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120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F4444"/>
                </a:solidFill>
                <a:latin typeface="Calibri"/>
              </a:rPr>
              <a:t>50.2s avg wait  ·  29 max queue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4754880"/>
            <a:ext cx="5120640" cy="1554480"/>
          </a:xfrm>
          <a:prstGeom prst="rect">
            <a:avLst/>
          </a:prstGeom>
          <a:solidFill>
            <a:srgbClr val="151D30"/>
          </a:solidFill>
          <a:ln>
            <a:solidFill>
              <a:srgbClr val="151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Sentinel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52120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D399"/>
                </a:solidFill>
                <a:latin typeface="Calibri"/>
              </a:rPr>
              <a:t>13.8s avg wait  ·  11 max queue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Calibri"/>
              </a:rPr>
              <a:t>Real engineering, not a demo hack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3657600" cy="4297680"/>
          </a:xfrm>
          <a:prstGeom prst="rect">
            <a:avLst/>
          </a:prstGeom>
          <a:solidFill>
            <a:srgbClr val="151D30"/>
          </a:solidFill>
          <a:ln>
            <a:solidFill>
              <a:srgbClr val="151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4D399"/>
                </a:solidFill>
                <a:latin typeface="Calibri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F1F5F9"/>
                </a:solidFill>
              </a:rPr>
              <a:t>•  Python 3.11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F1F5F9"/>
                </a:solidFill>
              </a:rPr>
              <a:t>•  FastAPI + Uvicorn + WebSocket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F1F5F9"/>
                </a:solidFill>
              </a:rPr>
              <a:t>•  asyncio event-driven agents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F1F5F9"/>
                </a:solidFill>
              </a:rPr>
              <a:t>•  Pydantic v2 everywhere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737360"/>
            <a:ext cx="3657600" cy="4297680"/>
          </a:xfrm>
          <a:prstGeom prst="rect">
            <a:avLst/>
          </a:prstGeom>
          <a:solidFill>
            <a:srgbClr val="151D30"/>
          </a:solidFill>
          <a:ln>
            <a:solidFill>
              <a:srgbClr val="151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874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4D399"/>
                </a:solidFill>
                <a:latin typeface="Calibri"/>
              </a:rPr>
              <a:t>AI / Perception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42316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F1F5F9"/>
                </a:solidFill>
              </a:rPr>
              <a:t>•  YOLO (Ultralytics)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F1F5F9"/>
                </a:solidFill>
              </a:rPr>
              <a:t>•  Custom IoU multi-object tracker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F1F5F9"/>
                </a:solidFill>
              </a:rPr>
              <a:t>•  Claude LLM narrator (out of loop)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F1F5F9"/>
                </a:solidFill>
              </a:rPr>
              <a:t>•  Least-squares trend forecasting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737360"/>
            <a:ext cx="3657600" cy="4297680"/>
          </a:xfrm>
          <a:prstGeom prst="rect">
            <a:avLst/>
          </a:prstGeom>
          <a:solidFill>
            <a:srgbClr val="151D30"/>
          </a:solidFill>
          <a:ln>
            <a:solidFill>
              <a:srgbClr val="151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1874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4D399"/>
                </a:solidFill>
                <a:latin typeface="Calibri"/>
              </a:rPr>
              <a:t>Infra &amp; 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42316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F1F5F9"/>
                </a:solidFill>
              </a:rPr>
              <a:t>•  RabbitMQ / Redis Streams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F1F5F9"/>
                </a:solidFill>
              </a:rPr>
              <a:t>•  PostgreSQL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F1F5F9"/>
                </a:solidFill>
              </a:rPr>
              <a:t>•  Docker + docker-compose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F1F5F9"/>
                </a:solidFill>
              </a:rPr>
              <a:t>•  Prometheus + Grafana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F1F5F9"/>
                </a:solidFill>
              </a:rPr>
              <a:t>•  GitHub Actions CI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READY TO 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  <a:latin typeface="Calibri"/>
              </a:rPr>
              <a:t>Hybrid deployment, day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5120640" cy="3840480"/>
          </a:xfrm>
          <a:prstGeom prst="rect">
            <a:avLst/>
          </a:prstGeom>
          <a:solidFill>
            <a:srgbClr val="151D30"/>
          </a:solidFill>
          <a:ln>
            <a:solidFill>
              <a:srgbClr val="151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D399"/>
                </a:solidFill>
                <a:latin typeface="Calibri"/>
              </a:rPr>
              <a:t>Vercel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F1F5F9"/>
                </a:solidFill>
              </a:rPr>
              <a:t>•  Static live dashboard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F1F5F9"/>
                </a:solidFill>
              </a:rPr>
              <a:t>•  Thin API proxy via vercel.json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F1F5F9"/>
                </a:solidFill>
              </a:rPr>
              <a:t>•  Zero build 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828800"/>
            <a:ext cx="5486400" cy="3840480"/>
          </a:xfrm>
          <a:prstGeom prst="rect">
            <a:avLst/>
          </a:prstGeom>
          <a:solidFill>
            <a:srgbClr val="151D30"/>
          </a:solidFill>
          <a:ln>
            <a:solidFill>
              <a:srgbClr val="151D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011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  <a:latin typeface="Calibri"/>
              </a:rPr>
              <a:t>GPU 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56032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F1F5F9"/>
                </a:solidFill>
              </a:rPr>
              <a:t>•  Full agent fleet + perception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F1F5F9"/>
                </a:solidFill>
              </a:rPr>
              <a:t>•  SUMO microsimulation bridge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F1F5F9"/>
                </a:solidFill>
              </a:rPr>
              <a:t>•  RabbitMQ / Redis / Postgres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F1F5F9"/>
                </a:solidFill>
              </a:rPr>
              <a:t>•  Dockerized, CI-built on every push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1F5F9"/>
                </a:solidFill>
                <a:latin typeface="Calibri"/>
              </a:rPr>
              <a:t>This isn't a concept.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4D399"/>
                </a:solidFill>
                <a:latin typeface="Calibri"/>
              </a:rPr>
              <a:t>It's running. It's safe. It's ready for a real city.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Sentinel AI — Autonomous Traffic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